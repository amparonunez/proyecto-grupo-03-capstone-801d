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p/S9WGKgGvCBr8sJDoPqUBxDw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F9ABD5-CACD-4496-A261-FDDC9657439E}">
  <a:tblStyle styleId="{3AF9ABD5-CACD-4496-A261-FDDC9657439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ef6a6be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aef6a6be4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15.jpg"/><Relationship Id="rId5" Type="http://schemas.openxmlformats.org/officeDocument/2006/relationships/image" Target="../media/image4.jpg"/><Relationship Id="rId6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hyperlink" Target="https://docs.google.com/spreadsheets/d/1u_tnNldU81nGqT-bd5Dqj1MFeTFqFATJ/edit?usp=sharing&amp;ouid=114830367957904348789&amp;rtpof=true&amp;sd=tru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9" Type="http://schemas.openxmlformats.org/officeDocument/2006/relationships/hyperlink" Target="https://trello.com/w/espaciodetrabajodeuser80397228/home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hyperlink" Target="https://github.com/amparonunez/Proyecto-Grupo-03-Capstone-801D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hyperlink" Target="https://club-mamba.vercel.app/" TargetMode="External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371100" y="1143800"/>
            <a:ext cx="114498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0122" y="4725250"/>
            <a:ext cx="4371750" cy="16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463750" y="3243663"/>
            <a:ext cx="11449800" cy="11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3400"/>
              </a:spcBef>
              <a:spcAft>
                <a:spcPts val="0"/>
              </a:spcAft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Integrantes: Amparo Núñez · Diego Álvarez · Gustavo Martínez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3400"/>
              </a:spcBef>
              <a:spcAft>
                <a:spcPts val="3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Ingeniería en Informática – DUOC UC · Sede Melipilla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2"/>
          <p:cNvGrpSpPr/>
          <p:nvPr/>
        </p:nvGrpSpPr>
        <p:grpSpPr>
          <a:xfrm>
            <a:off x="3717925" y="1710825"/>
            <a:ext cx="8318218" cy="4350553"/>
            <a:chOff x="0" y="0"/>
            <a:chExt cx="7633494" cy="435055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Amparo Núñez Pérez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 / Desarrollador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del proyecto con ScrumGestión del proyecto con Scrum y desarrollo de componentes del sistema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Álvarez </a:t>
              </a: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Gutiérrez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Aseguramiento de calidad y apoyo en desarrollo.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Gustavo Martinez Bahamondes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Backend Developer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159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lang="es-CL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APIs, lógica de negocio y conexión con la base de datos.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“Interfaz Web de Gestión Deportiva para Mamba Club de Melipilla”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36202" y="3058616"/>
            <a:ext cx="360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03" name="Google Shape;103;p2" title="WhatsApp Image 2025-12-11 at 17.57.45.jpeg"/>
          <p:cNvPicPr preferRelativeResize="0"/>
          <p:nvPr/>
        </p:nvPicPr>
        <p:blipFill rotWithShape="1">
          <a:blip r:embed="rId4">
            <a:alphaModFix/>
          </a:blip>
          <a:srcRect b="11932" l="0" r="0" t="16228"/>
          <a:stretch/>
        </p:blipFill>
        <p:spPr>
          <a:xfrm>
            <a:off x="3929200" y="1797935"/>
            <a:ext cx="1261252" cy="1208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 title="WhatsApp Image 2025-12-11 at 15.01.33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7675" y="4766225"/>
            <a:ext cx="1064276" cy="1200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 title="WhatsApp Image 2025-12-11 at 14.56.48.jpeg"/>
          <p:cNvPicPr preferRelativeResize="0"/>
          <p:nvPr/>
        </p:nvPicPr>
        <p:blipFill rotWithShape="1">
          <a:blip r:embed="rId6">
            <a:alphaModFix/>
          </a:blip>
          <a:srcRect b="28015" l="6217" r="0" t="16802"/>
          <a:stretch/>
        </p:blipFill>
        <p:spPr>
          <a:xfrm>
            <a:off x="3929188" y="3285800"/>
            <a:ext cx="1261250" cy="1200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Mamba Club de Melipilla no contaba con una plataforma digital para gestionar entrenamientos, asistencia, usuarios ni comunicación interna. Sus procesos eran manuales, desorganizados y con baja trazabilidad, generando pérdida de información y poca eficiencia.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interfaz web centralizada que permita administrar actividades deportivas, registrar asistencia, gestionar usuarios según roles y publicar anuncios oficiales del club, mejorando la organización y comunicación interna.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4"/>
          <p:cNvSpPr txBox="1"/>
          <p:nvPr/>
        </p:nvSpPr>
        <p:spPr>
          <a:xfrm>
            <a:off x="1" y="40824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interfaz web de gestión deportiva para centralizar y optimizar la administración de actividades, asistencia, usuarios y comunicación interna del club.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614550" y="4728948"/>
            <a:ext cx="10962900" cy="2004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la arquitectura y base de datos.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los módulos principales de la plataforma.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Ejecutar pruebas y validar la solución con el cliente.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 el proyecto aplicando metodología Scrum.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5" name="Google Shape;135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5"/>
          <p:cNvSpPr/>
          <p:nvPr/>
        </p:nvSpPr>
        <p:spPr>
          <a:xfrm>
            <a:off x="714909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funcional del sistema web con roles diferenciados.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agenda, registro de asistencia, usuarios y noticias.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relacional operativa.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Documentación técnica, manual de usuario y evidencias de pruebas.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362409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acotado del semestre para desarrollo extendido.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la disponibilidad del cliente para validaciones.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Tiempos y organización de integrantes del grupo debido a distintas actividades que realizan.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0" y="112534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6"/>
          <p:cNvSpPr/>
          <p:nvPr/>
        </p:nvSpPr>
        <p:spPr>
          <a:xfrm>
            <a:off x="342600" y="2050325"/>
            <a:ext cx="11506800" cy="4668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</a:rPr>
              <a:t>Se utilizó </a:t>
            </a:r>
            <a:r>
              <a:rPr b="1" lang="es-CL" sz="1700">
                <a:solidFill>
                  <a:schemeClr val="dk1"/>
                </a:solidFill>
              </a:rPr>
              <a:t>Scrum </a:t>
            </a:r>
            <a:r>
              <a:rPr lang="es-CL" sz="1700">
                <a:solidFill>
                  <a:schemeClr val="dk1"/>
                </a:solidFill>
              </a:rPr>
              <a:t>como marco de trabajo ágil, desarrollando el proyecto en sprints iterativos, cada uno con un incremento funcional entregable.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Incrementos desarrollados por sprint: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1: Autenticación (login/registro).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2: Gestión de jugadores y perfiles.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3: Calendario de entrenamientos y partidos.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4: Noticias y comunicación interna.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s-CL" sz="1700">
                <a:solidFill>
                  <a:schemeClr val="dk1"/>
                </a:solidFill>
              </a:rPr>
              <a:t>Sprint 5: Asistencia, panel del entrenador y despliegue final.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700">
                <a:solidFill>
                  <a:schemeClr val="dk1"/>
                </a:solidFill>
              </a:rPr>
              <a:t>Artefactos y eventos utilizados: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</a:rPr>
              <a:t>Product Backlog · Sprint Backlog · GitHub (CI/CD) · Sprint Planning · Daily Scrum · Sprint Review · Sprint Retrospective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7" name="Google Shape;1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8675" y="2991400"/>
            <a:ext cx="3320124" cy="22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56" name="Google Shape;156;p7"/>
          <p:cNvGraphicFramePr/>
          <p:nvPr/>
        </p:nvGraphicFramePr>
        <p:xfrm>
          <a:off x="215900" y="2210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{3AF9ABD5-CACD-4496-A261-FDDC9657439E}</a:tableStyleId>
              </a:tblPr>
              <a:tblGrid>
                <a:gridCol w="727075"/>
                <a:gridCol w="2838450"/>
                <a:gridCol w="1494050"/>
                <a:gridCol w="5670175"/>
                <a:gridCol w="763750"/>
              </a:tblGrid>
              <a:tr h="486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Sprint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Fase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Periodo (Semanas)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Actividades claves del Sprint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Estado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1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Planificación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1-4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Requerimientos, análisis y definición del proyecto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2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Diseño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5-7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Diseño de arquitectura, vistas técnicas y mockups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3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Desarrollo Backend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7-9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Backend: BBDD, APIs, seguridad  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4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Desarrollo FrontEnd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9-11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Frontend: interfaz, integración y módulos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E2D5"/>
                    </a:solidFill>
                  </a:tcPr>
                </a:tc>
              </a:tr>
              <a:tr h="566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100">
                          <a:solidFill>
                            <a:srgbClr val="FFFFFF"/>
                          </a:solidFill>
                        </a:rPr>
                        <a:t>5</a:t>
                      </a:r>
                      <a:endParaRPr b="1" sz="1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Pruebas, Documentación y Cierre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Semanas 11-15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Pruebas, documentación e informe final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100%</a:t>
                      </a:r>
                      <a:endParaRPr/>
                    </a:p>
                  </a:txBody>
                  <a:tcPr marT="91425" marB="91425" marR="68575" marL="68575">
                    <a:lnL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C5AC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7"/>
          <p:cNvSpPr txBox="1"/>
          <p:nvPr/>
        </p:nvSpPr>
        <p:spPr>
          <a:xfrm>
            <a:off x="2198388" y="6007100"/>
            <a:ext cx="80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4"/>
              </a:rPr>
              <a:t>Sprint Planning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0" y="143265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" name="Google Shape;165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8"/>
          <p:cNvSpPr/>
          <p:nvPr/>
        </p:nvSpPr>
        <p:spPr>
          <a:xfrm>
            <a:off x="750750" y="2625725"/>
            <a:ext cx="10917300" cy="405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basado en arquitectura web cliente–servidor.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responsive.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con lógica de negocio y controladores.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relacional Supabase - PostgreSQL.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sesiones y roles.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local con potencial escalabilidad.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9775" y="3095050"/>
            <a:ext cx="5326527" cy="315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2" name="Google Shape;1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0" y="1212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75" name="Google Shape;175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9"/>
          <p:cNvSpPr/>
          <p:nvPr/>
        </p:nvSpPr>
        <p:spPr>
          <a:xfrm>
            <a:off x="576125" y="2078975"/>
            <a:ext cx="11337300" cy="46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Incluye tablas principales: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asistencia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entrenamientos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anuncios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categorías o niveles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 diseñado para asegurar integridad, consistencia y escalabilidad.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 rotWithShape="1">
          <a:blip r:embed="rId4">
            <a:alphaModFix/>
          </a:blip>
          <a:srcRect b="0" l="2761" r="0" t="1748"/>
          <a:stretch/>
        </p:blipFill>
        <p:spPr>
          <a:xfrm>
            <a:off x="5976475" y="2333800"/>
            <a:ext cx="4828150" cy="35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Interfaz Web de Gestión Deportiva para Mamba Club de Melipilla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85" name="Google Shape;185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6" name="Google Shape;186;p10"/>
          <p:cNvSpPr/>
          <p:nvPr/>
        </p:nvSpPr>
        <p:spPr>
          <a:xfrm>
            <a:off x="665025" y="2303750"/>
            <a:ext cx="4729200" cy="20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HTML, CSS, JavaScript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/ Next.js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65025" y="4574225"/>
            <a:ext cx="4729200" cy="20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de Desarrollo y Respaldo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Studio Code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Drive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199050" y="2262825"/>
            <a:ext cx="4729200" cy="204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Supabase / PostgreSQL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 REST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 o PHP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9125" y="4474738"/>
            <a:ext cx="3561798" cy="224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g3aef6a6be4a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aef6a6be4a_0_1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“Interfaz Web de Gestión Deportiva para Mamba Club de Melipilla”</a:t>
            </a:r>
            <a:endParaRPr/>
          </a:p>
        </p:txBody>
      </p:sp>
      <p:sp>
        <p:nvSpPr>
          <p:cNvPr id="196" name="Google Shape;196;g3aef6a6be4a_0_17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97" name="Google Shape;197;g3aef6a6be4a_0_1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98" name="Google Shape;198;g3aef6a6be4a_0_17" title="Captura de pantalla 2025-12-09 2308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137" y="4390550"/>
            <a:ext cx="4518024" cy="2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aef6a6be4a_0_17" title="Captura de pantalla 2025-12-09 23085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26188" y="1924810"/>
            <a:ext cx="4518024" cy="2400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aef6a6be4a_0_17" title="Captura de pantalla 2025-12-10 0039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0150" y="1924811"/>
            <a:ext cx="4518005" cy="2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aef6a6be4a_0_17" title="Captura de pantalla 2025-12-10 00401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6212" y="4390550"/>
            <a:ext cx="4518000" cy="240019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aef6a6be4a_0_17"/>
          <p:cNvSpPr txBox="1"/>
          <p:nvPr/>
        </p:nvSpPr>
        <p:spPr>
          <a:xfrm>
            <a:off x="1200145" y="1459050"/>
            <a:ext cx="451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8"/>
              </a:rPr>
              <a:t>GitHub Grupo 3</a:t>
            </a:r>
            <a:endParaRPr/>
          </a:p>
        </p:txBody>
      </p:sp>
      <p:sp>
        <p:nvSpPr>
          <p:cNvPr id="203" name="Google Shape;203;g3aef6a6be4a_0_17"/>
          <p:cNvSpPr txBox="1"/>
          <p:nvPr/>
        </p:nvSpPr>
        <p:spPr>
          <a:xfrm>
            <a:off x="6426195" y="1459075"/>
            <a:ext cx="451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9"/>
              </a:rPr>
              <a:t>Trello Grupo 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2062188" y="4070350"/>
            <a:ext cx="80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u="sng">
                <a:solidFill>
                  <a:schemeClr val="hlink"/>
                </a:solidFill>
                <a:hlinkClick r:id="rId4"/>
              </a:rPr>
              <a:t>Club Mamba Melipilla</a:t>
            </a:r>
            <a:endParaRPr/>
          </a:p>
        </p:txBody>
      </p:sp>
      <p:pic>
        <p:nvPicPr>
          <p:cNvPr id="211" name="Google Shape;211;p11" title="qrcode_club-mamba.vercel.ap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07400" y="4200525"/>
            <a:ext cx="2402992" cy="2402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6" name="Google Shape;21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750750" y="2625725"/>
            <a:ext cx="10777800" cy="405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completamente operativa.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positiva por parte del cliente.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100% de los procesos internos del club.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significativa en la organización interna.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750750" y="2276475"/>
            <a:ext cx="10777800" cy="4400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Limitación de tiempo para pruebas más extensas.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Retrasos por coordinación interna del equipo.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Cambios de requerimientos del cliente durante el proceso.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Cómo se solucionó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Replanificación de sprints.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comunicación interna y reuniones semanales.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Ajustes de funcionalidades priorizadas.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0" name="Google Shape;2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